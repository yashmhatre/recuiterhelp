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0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6466" y="695985"/>
            <a:ext cx="5507831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PROJECT: FORGE AI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296466" y="1329128"/>
            <a:ext cx="5507831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WORLD’S FIRST HUMAN-CENTRIC CAREER OS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093619" y="7144"/>
            <a:ext cx="3043238" cy="513635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93619" y="714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33284" y="7144"/>
            <a:ext cx="3572" cy="448806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3619" y="4491633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3619" y="7144"/>
            <a:ext cx="7144" cy="4488061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144" y="3212902"/>
            <a:ext cx="6086475" cy="192345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144" y="3212902"/>
            <a:ext cx="6086475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090047" y="3212902"/>
            <a:ext cx="3572" cy="192345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144" y="5132784"/>
            <a:ext cx="6086475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44" y="3212902"/>
            <a:ext cx="3572" cy="192345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50019" y="4582046"/>
            <a:ext cx="58007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55FF">
                    <a:alpha val="9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Accelerate Career Growth · </a:t>
            </a:r>
            <a:r>
              <a:rPr lang="en-US" sz="950" dirty="0">
                <a:solidFill>
                  <a:srgbClr val="0055FF">
                    <a:alpha val="9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Improve Employability · </a:t>
            </a:r>
            <a:r>
              <a:rPr lang="en-US" sz="950" dirty="0">
                <a:solidFill>
                  <a:srgbClr val="0055FF">
                    <a:alpha val="9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Preserve Authenticity</a:t>
            </a:r>
            <a:endParaRPr lang="en-US" sz="950" dirty="0"/>
          </a:p>
        </p:txBody>
      </p:sp>
      <p:pic>
        <p:nvPicPr>
          <p:cNvPr id="19" name="Picture 1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24E8478-5D10-919A-4CFC-3EF9B4CB1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373" y="1962352"/>
            <a:ext cx="2713729" cy="8322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155376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155376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1557338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155376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0019" y="292894"/>
            <a:ext cx="88439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"AI SAMENESS" TRAP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44" y="1556165"/>
            <a:ext cx="4564856" cy="1710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44" y="1556165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8428" y="1556165"/>
            <a:ext cx="3572" cy="171009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44" y="3262685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44" y="1556165"/>
            <a:ext cx="3572" cy="171009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0019" y="1641890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THE PROBLEM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50019" y="1897280"/>
            <a:ext cx="42791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Generic AI-generated resumes and LinkedIn posts all look and sound the same to recruiters, leading to instant dismissal.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0" y="1556165"/>
            <a:ext cx="4564856" cy="1710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0" y="1556165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33284" y="1556165"/>
            <a:ext cx="3572" cy="171009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0" y="3262685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0" y="1556165"/>
            <a:ext cx="3572" cy="171009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14875" y="1644262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THE IMPACT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14875" y="1899651"/>
            <a:ext cx="42791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Low response rates and weak personal branding create a lack of visibility in hyper-competitive technology markets.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144" y="3263857"/>
            <a:ext cx="4564856" cy="1872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44" y="3263857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68428" y="3263857"/>
            <a:ext cx="3572" cy="18725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44" y="5132784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44" y="3263857"/>
            <a:ext cx="3572" cy="18725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50019" y="3354353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THE GAP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50019" y="3609742"/>
            <a:ext cx="42791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Current platforms solve isolated problems like resume building or learning, but fail to address the entire career lifecycle.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0" y="3268628"/>
            <a:ext cx="4564856" cy="18677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0" y="3268628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133284" y="3268628"/>
            <a:ext cx="3572" cy="186772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0" y="5132784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572000" y="3268628"/>
            <a:ext cx="3572" cy="186772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14875" y="3354353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THE COST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714875" y="3609742"/>
            <a:ext cx="42791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 professionals struggle with unclear development paths and inconsistent messaging, resulting in stagnant career growth.</a:t>
            </a:r>
            <a:endParaRPr lang="en-US" sz="850" dirty="0"/>
          </a:p>
        </p:txBody>
      </p:sp>
      <p:pic>
        <p:nvPicPr>
          <p:cNvPr id="37" name="Picture 3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6D9ECD9-AD07-DD55-49EE-F4D7E776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48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858422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0019" y="583388"/>
            <a:ext cx="88439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FORGE AI: A COMPREHENSIVE CAREER 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367" y="920930"/>
            <a:ext cx="247352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TALENT INTELLIGENCE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367" y="1169175"/>
            <a:ext cx="247352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Intelligent discovery and opportunity scoring for best-fit roles across multiple platforms.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786063" y="920930"/>
            <a:ext cx="247352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CAREER READINESS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786063" y="1169175"/>
            <a:ext cx="247352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ATS optimization and personalized development roadmaps based on continuous gap analysis.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0367" y="2006780"/>
            <a:ext cx="247352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INTERVIEW SIMULATION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367" y="2255025"/>
            <a:ext cx="247352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Validating real-world capability through the proprietary FORGE Sim™ scenario-based framework.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786063" y="2006780"/>
            <a:ext cx="247352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HUMAN AUTHENTICITY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86063" y="2255025"/>
            <a:ext cx="247352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Preserving your unique professional voice across all digital assets and outreach.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332809" y="861994"/>
            <a:ext cx="3804047" cy="427436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32809" y="861994"/>
            <a:ext cx="7144" cy="4274362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083" y="1498988"/>
            <a:ext cx="2857500" cy="3000375"/>
          </a:xfrm>
          <a:prstGeom prst="rect">
            <a:avLst/>
          </a:prstGeom>
        </p:spPr>
      </p:pic>
      <p:pic>
        <p:nvPicPr>
          <p:cNvPr id="21" name="Picture 2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0AC7512-86A8-FDF6-923F-B4630CAB2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4" y="64294"/>
            <a:ext cx="9129713" cy="120944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294" y="6429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90434" y="64294"/>
            <a:ext cx="3572" cy="120944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294" y="127016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294" y="64294"/>
            <a:ext cx="3572" cy="120944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4319" y="990358"/>
            <a:ext cx="87296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USP: HUMAN AUTHENTICITY ENGINE (HAE)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294" y="1268964"/>
            <a:ext cx="4564856" cy="198013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94" y="1268964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25578" y="1268964"/>
            <a:ext cx="3572" cy="198013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94" y="3245523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294" y="1268964"/>
            <a:ext cx="3572" cy="198013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64319" y="1328514"/>
            <a:ext cx="4164806" cy="269677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BEYOND GENERIC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64319" y="1655341"/>
            <a:ext cx="4164806" cy="6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Unlike traditional AI systems that generate robotic, template-based content, HAE learns your natural communication style, vocabulary, and professional tone to ensure every output feels uniquely yours.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29150" y="1271364"/>
            <a:ext cx="4564856" cy="19753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29150" y="1271364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90434" y="1271364"/>
            <a:ext cx="3572" cy="197535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29150" y="3243151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29150" y="1271364"/>
            <a:ext cx="3572" cy="197535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29175" y="1328514"/>
            <a:ext cx="4164806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VOICE INTELLIGENCE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829175" y="1619622"/>
            <a:ext cx="4164806" cy="6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Our engine builds a deep "Voice Profile" by analyzing your historical LinkedIn posts, technical articles, and past resumes, capturing the nuances that define your professional identity.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4294" y="3246723"/>
            <a:ext cx="4564856" cy="19467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294" y="3246723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25578" y="3246723"/>
            <a:ext cx="3572" cy="194678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4294" y="5189934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294" y="3246723"/>
            <a:ext cx="3572" cy="194678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64319" y="3308617"/>
            <a:ext cx="4164806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AUTHENTIC CONTENT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64319" y="3599724"/>
            <a:ext cx="4164806" cy="6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Generate LinkedIn posts, long-form articles, and recruiter outreach that bypasses "AI detectors" by mirroring your specific industry expertise and personal storytelling style.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29150" y="3251467"/>
            <a:ext cx="4564856" cy="19420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29150" y="3251467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190434" y="3251467"/>
            <a:ext cx="3572" cy="194204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29150" y="5189934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629150" y="3251467"/>
            <a:ext cx="3572" cy="194204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29175" y="3308617"/>
            <a:ext cx="4164806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BRAND CONSISTENCY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829175" y="3599724"/>
            <a:ext cx="4164806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Maintain a unified leadership voice across every touchpoint in the career lifecycle, from initial networking messages to high-stakes executive thought leadership pieces.</a:t>
            </a:r>
            <a:endParaRPr lang="en-US" sz="850" dirty="0"/>
          </a:p>
        </p:txBody>
      </p:sp>
      <p:pic>
        <p:nvPicPr>
          <p:cNvPr id="38" name="Picture 3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AB67339-8699-4D15-B086-69C52B1A8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4" y="64294"/>
            <a:ext cx="9129713" cy="8548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294" y="6429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90434" y="6429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294" y="915572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294" y="6429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8606" y="640538"/>
            <a:ext cx="87010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INTELLIGENCE LAYERS: DISCOVERY &amp; READINESS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294" y="919144"/>
            <a:ext cx="3043238" cy="42743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94" y="91914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00388" y="919144"/>
            <a:ext cx="7144" cy="4274362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94" y="518993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294" y="91914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8606" y="1204894"/>
            <a:ext cx="26146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JOB HUNTER AGENT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8606" y="1646020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Scours LinkedIn, Indeed, Dice, and company career pages 24/7 to identify high-probability opportunities.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07531" y="919144"/>
            <a:ext cx="3043238" cy="42743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07531" y="91914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43625" y="919144"/>
            <a:ext cx="7144" cy="4274362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07531" y="518993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107531" y="91914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21844" y="1204894"/>
            <a:ext cx="26146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JD INTELLIGENCE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321844" y="1646020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Deep parsing of Job Descriptions to extract hidden skills, certifications, and priority keywords.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50769" y="919144"/>
            <a:ext cx="3043238" cy="42743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150769" y="91914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150769" y="518993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150769" y="91914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65081" y="1204894"/>
            <a:ext cx="26146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GAP ANALYSIS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65081" y="1646020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Identifies exact skill and experience gaps between your profile and target roles.</a:t>
            </a:r>
            <a:endParaRPr lang="en-US" sz="800" dirty="0"/>
          </a:p>
        </p:txBody>
      </p:sp>
      <p:pic>
        <p:nvPicPr>
          <p:cNvPr id="30" name="Picture 2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CB4A653-4521-E4CD-7EF0-BB331E85D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56435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50019" y="292894"/>
            <a:ext cx="88439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FORGE SIM™: VALIDATING REAL-WORLD CAPABILITY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50019" y="685800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PROPRIETARY FRAMEWORK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019" y="969764"/>
            <a:ext cx="4279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High-stakes simulations for cloud architecture, production failures, and leadership scenarios that move beyond theoretical knowledge.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14875" y="685800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INCIDENT RESPONSE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4875" y="969764"/>
            <a:ext cx="4279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Real-world exercises that test decision quality under pressure, simulating actual system outages and security breaches.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0019" y="1675516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TECHNICAL DEEP-DIVES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0019" y="1959480"/>
            <a:ext cx="4279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design challenges and technical interviews tailored to specific roles, ensuring candidates can handle complex engineering tasks.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14875" y="1675516"/>
            <a:ext cx="42791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READINESS SCORING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14875" y="1959480"/>
            <a:ext cx="4279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Quantitative validation of technical competency and leadership capability, providing a data-backed score for recruiter confidence.</a:t>
            </a:r>
            <a:endParaRPr lang="en-US" sz="850" dirty="0"/>
          </a:p>
        </p:txBody>
      </p:sp>
      <p:pic>
        <p:nvPicPr>
          <p:cNvPr id="14" name="Picture 1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5F61DD0-AF7F-8084-B2D5-93D7972FF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571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5715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575072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5715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1456" y="292894"/>
            <a:ext cx="87010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VISIBILITY &amp; BRANDING: BUILDING AN UNSTOPPABLE BRAND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44" y="571500"/>
            <a:ext cx="4564856" cy="2000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44" y="571500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8428" y="57150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44" y="2568178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44" y="57150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1456" y="742950"/>
            <a:ext cx="413623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CONTENT STRATEGY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21456" y="1062633"/>
            <a:ext cx="41362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Automated management of your LinkedIn content calendar and industry positioning, ensuring a consistent and professional presence without the manual effort.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0" y="571500"/>
            <a:ext cx="4564856" cy="200025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0" y="571500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33284" y="57150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0" y="2568178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0" y="57150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86313" y="742950"/>
            <a:ext cx="4136231" cy="27682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r>
              <a:rPr lang="en-US" sz="10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THOUGHT LEADERSHIP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86313" y="1126927"/>
            <a:ext cx="41362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Humanized articles and research pieces that establish you as a subject matter expert, powered by the Human Authenticity Engine to preserve your unique voice.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144" y="2571750"/>
            <a:ext cx="4564856" cy="200025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44" y="2571750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68428" y="257175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44" y="4568428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44" y="257175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21456" y="2743200"/>
            <a:ext cx="4136231" cy="27682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r>
              <a:rPr lang="en-US" sz="10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RECRUITER OUTREACH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1456" y="3127177"/>
            <a:ext cx="41362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Personalized, high-conversion messaging for referrals and networking, designed to bypass generic filters and land directly in the inbox of key decision-makers.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0" y="2571750"/>
            <a:ext cx="4564856" cy="2000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0" y="2571750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133284" y="257175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0" y="4568428"/>
            <a:ext cx="4564856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572000" y="2571750"/>
            <a:ext cx="3572" cy="2000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86313" y="2743200"/>
            <a:ext cx="413623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VISIBILITY ANALYTICS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786313" y="3062883"/>
            <a:ext cx="41362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Real-time tracking of your brand effectiveness and recruiter engagement levels, providing data-driven insights to optimize your professional market positioning.</a:t>
            </a:r>
            <a:endParaRPr lang="en-US" sz="850" dirty="0"/>
          </a:p>
        </p:txBody>
      </p:sp>
      <p:pic>
        <p:nvPicPr>
          <p:cNvPr id="38" name="Picture 3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F04D1E0-7497-2ED6-516A-408D9615C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48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858422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8594" y="583388"/>
            <a:ext cx="87868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ENGINE: 13 SPECIALIZED AI AGENTS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02" y="1534706"/>
            <a:ext cx="4857750" cy="32146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32809" y="861994"/>
            <a:ext cx="3804047" cy="427436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332809" y="861994"/>
            <a:ext cx="3804047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9133284" y="86199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332809" y="5132784"/>
            <a:ext cx="3804047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332809" y="861994"/>
            <a:ext cx="7144" cy="4274362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504259" y="1290619"/>
            <a:ext cx="346114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DISCOVERY &amp; MATCHING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504259" y="1538864"/>
            <a:ext cx="34611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Job Hunter, JD Intelligence, and Candidate Matching agents identify and rank the best-fit opportunities 24/7.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504259" y="2081789"/>
            <a:ext cx="346114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READINESS &amp; LEARNING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504259" y="2330035"/>
            <a:ext cx="34611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Resume Intelligence, Gap Analysis, and L&amp;D agents optimize assets and create personalized skill roadmaps.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504259" y="2872960"/>
            <a:ext cx="346114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VALIDATION &amp; SIMULATION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504259" y="3121205"/>
            <a:ext cx="34611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FORGE Simulation and Performance Evaluation agents conduct high-stakes technical and leadership challenges.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504259" y="3664130"/>
            <a:ext cx="346114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BRANDING &amp; OUTREACH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504259" y="3912375"/>
            <a:ext cx="34611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Voice Intelligence, LinkedIn Branding, and Outreach agents amplify your authentic professional identity.</a:t>
            </a:r>
            <a:endParaRPr lang="en-US" sz="750" dirty="0"/>
          </a:p>
        </p:txBody>
      </p:sp>
      <p:pic>
        <p:nvPicPr>
          <p:cNvPr id="24" name="Picture 2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0FAD26A-7557-6BF7-332E-947126B22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7143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71437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717947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71437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4300" y="442913"/>
            <a:ext cx="89154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WORKFLOW: FROM DISCOVERY TO OFFER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950119"/>
            <a:ext cx="7143750" cy="25717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5299" y="3664744"/>
            <a:ext cx="1235869" cy="1414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92894" y="3664744"/>
            <a:ext cx="123586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525191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92894" y="5075634"/>
            <a:ext cx="123586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92894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2455" y="3750469"/>
            <a:ext cx="102155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DISCOVERY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42455" y="3955852"/>
            <a:ext cx="102155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Agents identify best-fit roles across platforms 24/7.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1671168" y="3664744"/>
            <a:ext cx="1521619" cy="1414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528763" y="366474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046809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528763" y="507563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528763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778324" y="3750469"/>
            <a:ext cx="13073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 PREPARATION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778324" y="3955852"/>
            <a:ext cx="130730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Resume optimization and skill gap bridging.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3192786" y="3664744"/>
            <a:ext cx="1521619" cy="1414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50381" y="366474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568428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050381" y="507563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050381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299943" y="3750469"/>
            <a:ext cx="13073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VALIDATION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299943" y="3955852"/>
            <a:ext cx="130730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FORGE Sim™ validates real-world readiness.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4714405" y="3664744"/>
            <a:ext cx="1521619" cy="1414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572000" y="366474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090047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572000" y="507563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572000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821561" y="3750469"/>
            <a:ext cx="13073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 BRANDING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4821561" y="3955852"/>
            <a:ext cx="130730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HAE-powered visibility and thought leadership.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6236024" y="3664744"/>
            <a:ext cx="1521619" cy="1414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093619" y="366474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7611666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6093619" y="5075634"/>
            <a:ext cx="1521619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6093619" y="3664744"/>
            <a:ext cx="3572" cy="141446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343180" y="3750469"/>
            <a:ext cx="1307306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[05] ACQUISITION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6343180" y="3955852"/>
            <a:ext cx="130730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Success tracking and final offer conversion.</a:t>
            </a:r>
            <a:endParaRPr lang="en-US" sz="600" dirty="0"/>
          </a:p>
        </p:txBody>
      </p:sp>
      <p:pic>
        <p:nvPicPr>
          <p:cNvPr id="46" name="Picture 4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131DCA8-C4DA-3F3C-1BBF-A2A8A946F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7143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71437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717947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71437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4300" y="442913"/>
            <a:ext cx="89154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MARKET COMPARISON: WHY FORGE AI WINS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44" y="721519"/>
            <a:ext cx="2282428" cy="428625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44" y="721519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86000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44" y="1146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44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44" y="721519"/>
            <a:ext cx="2282428" cy="428625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A192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TRADITIONAL PORTALS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289572" y="721519"/>
            <a:ext cx="2282428" cy="428625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289572" y="721519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68428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89572" y="1146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289572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289572" y="721519"/>
            <a:ext cx="2282428" cy="428625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A192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RESUME BUILDERS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0" y="721519"/>
            <a:ext cx="2282428" cy="428625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0" y="721519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850856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0" y="1146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0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0" y="721519"/>
            <a:ext cx="2282428" cy="428625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A192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LEARNING PLATFORMS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854428" y="721519"/>
            <a:ext cx="2282428" cy="428625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54428" y="721519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133284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854428" y="1146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854428" y="721519"/>
            <a:ext cx="3572" cy="4286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4428" y="721519"/>
            <a:ext cx="2282428" cy="428625"/>
          </a:xfrm>
          <a:prstGeom prst="rect">
            <a:avLst/>
          </a:prstGeom>
          <a:noFill/>
          <a:ln/>
        </p:spPr>
        <p:txBody>
          <a:bodyPr wrap="square" lIns="127508" tIns="170053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FORGE AI (CAREER OS)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144" y="115014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144" y="11501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286000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144" y="20038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144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14300" y="12930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14300" y="14230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Passive job listings with generic filters.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2289572" y="115014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2289572" y="11501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568428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289572" y="20038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2289572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396728" y="12930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2396728" y="14230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 discovery features; asset-focused only.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4572000" y="115014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572000" y="11501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850856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572000" y="20038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4572000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679156" y="12930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4679156" y="14230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Skill-based discovery, not role-aligned.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6854428" y="1150144"/>
            <a:ext cx="2282428" cy="85725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6854428" y="11501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9133284" y="11501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6854428" y="20038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854428" y="1150144"/>
            <a:ext cx="14288" cy="857250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961584" y="12930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6961584" y="14230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24/7 Active Job Hunter &amp; JD Intelligence.</a:t>
            </a:r>
            <a:endParaRPr lang="en-US" sz="650" dirty="0"/>
          </a:p>
        </p:txBody>
      </p:sp>
      <p:sp>
        <p:nvSpPr>
          <p:cNvPr id="61" name="Shape 58"/>
          <p:cNvSpPr/>
          <p:nvPr/>
        </p:nvSpPr>
        <p:spPr>
          <a:xfrm>
            <a:off x="7144" y="200739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7144" y="20073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2286000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7144" y="28610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7144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14300" y="21502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endParaRPr lang="en-US" sz="650" dirty="0"/>
          </a:p>
        </p:txBody>
      </p:sp>
      <p:sp>
        <p:nvSpPr>
          <p:cNvPr id="67" name="Text 64"/>
          <p:cNvSpPr/>
          <p:nvPr/>
        </p:nvSpPr>
        <p:spPr>
          <a:xfrm>
            <a:off x="114300" y="22802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Zero personalization; one-size-fits-all.</a:t>
            </a:r>
            <a:endParaRPr lang="en-US" sz="650" dirty="0"/>
          </a:p>
        </p:txBody>
      </p:sp>
      <p:sp>
        <p:nvSpPr>
          <p:cNvPr id="68" name="Shape 65"/>
          <p:cNvSpPr/>
          <p:nvPr/>
        </p:nvSpPr>
        <p:spPr>
          <a:xfrm>
            <a:off x="2289572" y="200739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2289572" y="20073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4568428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2289572" y="28610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2289572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2396728" y="21502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endParaRPr lang="en-US" sz="650" dirty="0"/>
          </a:p>
        </p:txBody>
      </p:sp>
      <p:sp>
        <p:nvSpPr>
          <p:cNvPr id="74" name="Text 71"/>
          <p:cNvSpPr/>
          <p:nvPr/>
        </p:nvSpPr>
        <p:spPr>
          <a:xfrm>
            <a:off x="2396728" y="22802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Template-based; robotic AI generation.</a:t>
            </a:r>
            <a:endParaRPr lang="en-US" sz="650" dirty="0"/>
          </a:p>
        </p:txBody>
      </p:sp>
      <p:sp>
        <p:nvSpPr>
          <p:cNvPr id="75" name="Shape 72"/>
          <p:cNvSpPr/>
          <p:nvPr/>
        </p:nvSpPr>
        <p:spPr>
          <a:xfrm>
            <a:off x="4572000" y="200739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4572000" y="20073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6850856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4572000" y="28610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4572000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4679156" y="21502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4679156" y="22802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Generic curriculum; no voice preservation.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854428" y="2007394"/>
            <a:ext cx="2282428" cy="85725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6854428" y="20073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9133284" y="20073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6854428" y="28610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6854428" y="2007394"/>
            <a:ext cx="14288" cy="857250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6961584" y="21502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endParaRPr lang="en-US" sz="650" dirty="0"/>
          </a:p>
        </p:txBody>
      </p:sp>
      <p:sp>
        <p:nvSpPr>
          <p:cNvPr id="88" name="Text 85"/>
          <p:cNvSpPr/>
          <p:nvPr/>
        </p:nvSpPr>
        <p:spPr>
          <a:xfrm>
            <a:off x="6961584" y="22802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Proprietary Human Authenticity Engine (HAE).</a:t>
            </a:r>
            <a:endParaRPr lang="en-US" sz="650" dirty="0"/>
          </a:p>
        </p:txBody>
      </p:sp>
      <p:sp>
        <p:nvSpPr>
          <p:cNvPr id="89" name="Shape 86"/>
          <p:cNvSpPr/>
          <p:nvPr/>
        </p:nvSpPr>
        <p:spPr>
          <a:xfrm>
            <a:off x="7144" y="286464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7144" y="28646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2286000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7144" y="37183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7144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114300" y="30075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endParaRPr lang="en-US" sz="650" dirty="0"/>
          </a:p>
        </p:txBody>
      </p:sp>
      <p:sp>
        <p:nvSpPr>
          <p:cNvPr id="95" name="Text 92"/>
          <p:cNvSpPr/>
          <p:nvPr/>
        </p:nvSpPr>
        <p:spPr>
          <a:xfrm>
            <a:off x="114300" y="31375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 validation; relies on self-reporting.</a:t>
            </a:r>
            <a:endParaRPr lang="en-US" sz="650" dirty="0"/>
          </a:p>
        </p:txBody>
      </p:sp>
      <p:sp>
        <p:nvSpPr>
          <p:cNvPr id="96" name="Shape 93"/>
          <p:cNvSpPr/>
          <p:nvPr/>
        </p:nvSpPr>
        <p:spPr>
          <a:xfrm>
            <a:off x="2289572" y="286464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2289572" y="28646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4568428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2289572" y="37183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2289572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2396728" y="30075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endParaRPr lang="en-US" sz="650" dirty="0"/>
          </a:p>
        </p:txBody>
      </p:sp>
      <p:sp>
        <p:nvSpPr>
          <p:cNvPr id="102" name="Text 99"/>
          <p:cNvSpPr/>
          <p:nvPr/>
        </p:nvSpPr>
        <p:spPr>
          <a:xfrm>
            <a:off x="2396728" y="31375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Keyword stuffing; no actual skill check.</a:t>
            </a:r>
            <a:endParaRPr lang="en-US" sz="650" dirty="0"/>
          </a:p>
        </p:txBody>
      </p:sp>
      <p:sp>
        <p:nvSpPr>
          <p:cNvPr id="103" name="Shape 100"/>
          <p:cNvSpPr/>
          <p:nvPr/>
        </p:nvSpPr>
        <p:spPr>
          <a:xfrm>
            <a:off x="4572000" y="286464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4572000" y="28646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6850856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4572000" y="37183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4572000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4679156" y="30075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endParaRPr lang="en-US" sz="650" dirty="0"/>
          </a:p>
        </p:txBody>
      </p:sp>
      <p:sp>
        <p:nvSpPr>
          <p:cNvPr id="109" name="Text 106"/>
          <p:cNvSpPr/>
          <p:nvPr/>
        </p:nvSpPr>
        <p:spPr>
          <a:xfrm>
            <a:off x="4679156" y="313752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Theoretical quizzes; no real-world scenarios.</a:t>
            </a:r>
            <a:endParaRPr lang="en-US" sz="650" dirty="0"/>
          </a:p>
        </p:txBody>
      </p:sp>
      <p:sp>
        <p:nvSpPr>
          <p:cNvPr id="110" name="Shape 107"/>
          <p:cNvSpPr/>
          <p:nvPr/>
        </p:nvSpPr>
        <p:spPr>
          <a:xfrm>
            <a:off x="6854428" y="2864644"/>
            <a:ext cx="2282428" cy="85725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6854428" y="286464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9133284" y="286464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6854428" y="371832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6854428" y="2864644"/>
            <a:ext cx="14288" cy="857250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2"/>
          <p:cNvSpPr/>
          <p:nvPr/>
        </p:nvSpPr>
        <p:spPr>
          <a:xfrm>
            <a:off x="6961584" y="300751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endParaRPr lang="en-US" sz="650" dirty="0"/>
          </a:p>
        </p:txBody>
      </p:sp>
      <p:sp>
        <p:nvSpPr>
          <p:cNvPr id="116" name="Text 113"/>
          <p:cNvSpPr/>
          <p:nvPr/>
        </p:nvSpPr>
        <p:spPr>
          <a:xfrm>
            <a:off x="6961584" y="3137529"/>
            <a:ext cx="206811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FORGE Sim™ Real-World Simulations.</a:t>
            </a:r>
            <a:endParaRPr lang="en-US" sz="650" dirty="0"/>
          </a:p>
        </p:txBody>
      </p:sp>
      <p:sp>
        <p:nvSpPr>
          <p:cNvPr id="117" name="Shape 114"/>
          <p:cNvSpPr/>
          <p:nvPr/>
        </p:nvSpPr>
        <p:spPr>
          <a:xfrm>
            <a:off x="7144" y="372189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7144" y="37218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2286000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7144" y="4575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7144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9"/>
          <p:cNvSpPr/>
          <p:nvPr/>
        </p:nvSpPr>
        <p:spPr>
          <a:xfrm>
            <a:off x="114300" y="38647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</a:t>
            </a:r>
            <a:endParaRPr lang="en-US" sz="650" dirty="0"/>
          </a:p>
        </p:txBody>
      </p:sp>
      <p:sp>
        <p:nvSpPr>
          <p:cNvPr id="123" name="Text 120"/>
          <p:cNvSpPr/>
          <p:nvPr/>
        </p:nvSpPr>
        <p:spPr>
          <a:xfrm>
            <a:off x="114300" y="39947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Static profiles; low market visibility.</a:t>
            </a:r>
            <a:endParaRPr lang="en-US" sz="650" dirty="0"/>
          </a:p>
        </p:txBody>
      </p:sp>
      <p:sp>
        <p:nvSpPr>
          <p:cNvPr id="124" name="Shape 121"/>
          <p:cNvSpPr/>
          <p:nvPr/>
        </p:nvSpPr>
        <p:spPr>
          <a:xfrm>
            <a:off x="2289572" y="372189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2289572" y="37218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4568428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2289572" y="4575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2289572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6"/>
          <p:cNvSpPr/>
          <p:nvPr/>
        </p:nvSpPr>
        <p:spPr>
          <a:xfrm>
            <a:off x="2396728" y="38647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</a:t>
            </a:r>
            <a:endParaRPr lang="en-US" sz="650" dirty="0"/>
          </a:p>
        </p:txBody>
      </p:sp>
      <p:sp>
        <p:nvSpPr>
          <p:cNvPr id="130" name="Text 127"/>
          <p:cNvSpPr/>
          <p:nvPr/>
        </p:nvSpPr>
        <p:spPr>
          <a:xfrm>
            <a:off x="2396728" y="39947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Static documents; no social presence.</a:t>
            </a:r>
            <a:endParaRPr lang="en-US" sz="650" dirty="0"/>
          </a:p>
        </p:txBody>
      </p:sp>
      <p:sp>
        <p:nvSpPr>
          <p:cNvPr id="131" name="Shape 128"/>
          <p:cNvSpPr/>
          <p:nvPr/>
        </p:nvSpPr>
        <p:spPr>
          <a:xfrm>
            <a:off x="4572000" y="3721894"/>
            <a:ext cx="2282428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4572000" y="37218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0"/>
          <p:cNvSpPr/>
          <p:nvPr/>
        </p:nvSpPr>
        <p:spPr>
          <a:xfrm>
            <a:off x="6850856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1"/>
          <p:cNvSpPr/>
          <p:nvPr/>
        </p:nvSpPr>
        <p:spPr>
          <a:xfrm>
            <a:off x="4572000" y="4575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2"/>
          <p:cNvSpPr/>
          <p:nvPr/>
        </p:nvSpPr>
        <p:spPr>
          <a:xfrm>
            <a:off x="4572000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Text 133"/>
          <p:cNvSpPr/>
          <p:nvPr/>
        </p:nvSpPr>
        <p:spPr>
          <a:xfrm>
            <a:off x="4679156" y="38647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</a:t>
            </a:r>
            <a:endParaRPr lang="en-US" sz="650" dirty="0"/>
          </a:p>
        </p:txBody>
      </p:sp>
      <p:sp>
        <p:nvSpPr>
          <p:cNvPr id="137" name="Text 134"/>
          <p:cNvSpPr/>
          <p:nvPr/>
        </p:nvSpPr>
        <p:spPr>
          <a:xfrm>
            <a:off x="4679156" y="39947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Certification badges; weak personal brand.</a:t>
            </a:r>
            <a:endParaRPr lang="en-US" sz="650" dirty="0"/>
          </a:p>
        </p:txBody>
      </p:sp>
      <p:sp>
        <p:nvSpPr>
          <p:cNvPr id="138" name="Shape 135"/>
          <p:cNvSpPr/>
          <p:nvPr/>
        </p:nvSpPr>
        <p:spPr>
          <a:xfrm>
            <a:off x="6854428" y="3721894"/>
            <a:ext cx="2282428" cy="85725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6"/>
          <p:cNvSpPr/>
          <p:nvPr/>
        </p:nvSpPr>
        <p:spPr>
          <a:xfrm>
            <a:off x="6854428" y="3721894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7"/>
          <p:cNvSpPr/>
          <p:nvPr/>
        </p:nvSpPr>
        <p:spPr>
          <a:xfrm>
            <a:off x="9133284" y="3721894"/>
            <a:ext cx="3572" cy="8572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8"/>
          <p:cNvSpPr/>
          <p:nvPr/>
        </p:nvSpPr>
        <p:spPr>
          <a:xfrm>
            <a:off x="6854428" y="4575572"/>
            <a:ext cx="228242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39"/>
          <p:cNvSpPr/>
          <p:nvPr/>
        </p:nvSpPr>
        <p:spPr>
          <a:xfrm>
            <a:off x="6854428" y="3721894"/>
            <a:ext cx="14288" cy="857250"/>
          </a:xfrm>
          <a:prstGeom prst="rect">
            <a:avLst/>
          </a:prstGeom>
          <a:solidFill>
            <a:srgbClr val="005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Text 140"/>
          <p:cNvSpPr/>
          <p:nvPr/>
        </p:nvSpPr>
        <p:spPr>
          <a:xfrm>
            <a:off x="6961584" y="3864769"/>
            <a:ext cx="203239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[04]</a:t>
            </a:r>
            <a:endParaRPr lang="en-US" sz="650" dirty="0"/>
          </a:p>
        </p:txBody>
      </p:sp>
      <p:sp>
        <p:nvSpPr>
          <p:cNvPr id="144" name="Text 141"/>
          <p:cNvSpPr/>
          <p:nvPr/>
        </p:nvSpPr>
        <p:spPr>
          <a:xfrm>
            <a:off x="6961584" y="3994779"/>
            <a:ext cx="206811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Automated Thought Leadership &amp; Outreach.</a:t>
            </a:r>
            <a:endParaRPr lang="en-US" sz="650" dirty="0"/>
          </a:p>
        </p:txBody>
      </p:sp>
      <p:pic>
        <p:nvPicPr>
          <p:cNvPr id="146" name="Picture 14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6A9319A-3C17-81BA-6B08-C80D86B91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85485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33284" y="714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858422"/>
            <a:ext cx="9129713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85485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1456" y="583388"/>
            <a:ext cx="87010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IMPACT &amp; ROI: ACCELERATING OUTCOMES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44" y="861994"/>
            <a:ext cx="3043238" cy="42743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44" y="86199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43238" y="861994"/>
            <a:ext cx="7144" cy="4274362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44" y="513278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44" y="86199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1456" y="1147744"/>
            <a:ext cx="26146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 FOR INDIVIDUALS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21456" y="1646020"/>
            <a:ext cx="26146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3X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21456" y="2029997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Higher response rates from job applications through HAE-powered authentic branding.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1456" y="2687222"/>
            <a:ext cx="26146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40%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21456" y="3071199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Faster career progression and salary growth via continuous readiness validation.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050381" y="861994"/>
            <a:ext cx="3043238" cy="4274362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050381" y="86199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086475" y="861994"/>
            <a:ext cx="7144" cy="4274362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050381" y="513278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050381" y="86199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64694" y="1147744"/>
            <a:ext cx="2614613" cy="29110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r>
              <a:rPr lang="en-US" sz="10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FOR ENTERPRISES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64694" y="1724602"/>
            <a:ext cx="26146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-60%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264694" y="2108578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Reduction in hiring costs by eliminating skills mismatch through FORGE Sim™ validation.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64694" y="2765803"/>
            <a:ext cx="26146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100%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264694" y="3149780"/>
            <a:ext cx="26146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Confidence in candidate quality with data-backed readiness and performance analytics.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093619" y="861994"/>
            <a:ext cx="3043238" cy="42743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093619" y="86199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093619" y="513278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93619" y="861994"/>
            <a:ext cx="3572" cy="427436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307931" y="1147744"/>
            <a:ext cx="26146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 FOR UNIVERSITIES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307931" y="1646020"/>
            <a:ext cx="26146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95%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307931" y="2029997"/>
            <a:ext cx="2614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Employability scores for graduates who complete the Talent Readiness Program.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307931" y="2515772"/>
            <a:ext cx="261461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24/7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307931" y="2899749"/>
            <a:ext cx="2614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956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Industry-aligned career coaching and simulation access for every student.</a:t>
            </a:r>
            <a:endParaRPr lang="en-US" sz="800" dirty="0"/>
          </a:p>
        </p:txBody>
      </p:sp>
      <p:pic>
        <p:nvPicPr>
          <p:cNvPr id="39" name="Picture 3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9AEFF90-7146-4EDB-B964-24661D3C6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0" y="159287"/>
            <a:ext cx="1343821" cy="412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6086475" cy="5129213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44" y="7144"/>
            <a:ext cx="6086475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0047" y="7144"/>
            <a:ext cx="3572" cy="512921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4" y="5132784"/>
            <a:ext cx="6086475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4" y="7144"/>
            <a:ext cx="3572" cy="512921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5769" y="948528"/>
            <a:ext cx="522922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FORGE YOUR FUTURE TODAY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435769" y="2257230"/>
            <a:ext cx="5229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[01]</a:t>
            </a:r>
            <a:r>
              <a:rPr lang="en-US" sz="10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Transform your professional identity with HAE.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5769" y="2628705"/>
            <a:ext cx="5229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[02]</a:t>
            </a:r>
            <a:r>
              <a:rPr lang="en-US" sz="10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Validate your readiness through FORGE Sim™.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5769" y="3000180"/>
            <a:ext cx="5229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[03]</a:t>
            </a:r>
            <a:r>
              <a:rPr lang="en-US" sz="10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Dominate your career path with integrated AI.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5769" y="4021736"/>
            <a:ext cx="52292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5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GET STARTED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35769" y="4241406"/>
            <a:ext cx="52292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exeliqconsulting.com/forge-ai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5769" y="4432502"/>
            <a:ext cx="522922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contact@exeliq.ai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93619" y="7144"/>
            <a:ext cx="3043238" cy="51292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93619" y="714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133284" y="7144"/>
            <a:ext cx="3572" cy="512921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93619" y="5132784"/>
            <a:ext cx="3043238" cy="35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93619" y="7144"/>
            <a:ext cx="7144" cy="5129213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Picture 2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2DC4B54-1EB8-4B64-43DC-0F9473254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373" y="1962352"/>
            <a:ext cx="2713729" cy="8322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1128</Words>
  <Application>Microsoft Macintosh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 Bold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Abhijit Chavan</cp:lastModifiedBy>
  <cp:revision>2</cp:revision>
  <dcterms:created xsi:type="dcterms:W3CDTF">2026-07-03T04:30:01Z</dcterms:created>
  <dcterms:modified xsi:type="dcterms:W3CDTF">2026-07-05T15:39:35Z</dcterms:modified>
</cp:coreProperties>
</file>